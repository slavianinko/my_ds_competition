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9/16/2022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434154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9/16/2022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766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9/16/2022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510056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9/16/2022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761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9/16/2022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049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9/16/2022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140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9/16/2022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260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9/16/2022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9857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9/16/2022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1428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9/16/2022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95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9/16/2022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247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9/16/2022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34335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Korneichuk-v-n@yandex.ru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910802" y="1530416"/>
            <a:ext cx="8361229" cy="1499615"/>
          </a:xfrm>
        </p:spPr>
        <p:txBody>
          <a:bodyPr/>
          <a:lstStyle/>
          <a:p>
            <a:r>
              <a:rPr lang="ru-RU" sz="4800" dirty="0" smtClean="0"/>
              <a:t>Чемпионат по машинному обучению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10803" y="3072570"/>
            <a:ext cx="8361228" cy="787161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chemeClr val="accent4">
                    <a:lumMod val="50000"/>
                  </a:schemeClr>
                </a:solidFill>
              </a:rPr>
              <a:t>Прогнозирование статуса студента</a:t>
            </a:r>
            <a:endParaRPr lang="ru-RU" sz="32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4" name="Picture 6" descr="partn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060" y="5146737"/>
            <a:ext cx="1311965" cy="146240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143" y="5617326"/>
            <a:ext cx="2782892" cy="6921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8" descr="Логотип Цифровой прорыв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245" y="346104"/>
            <a:ext cx="3240768" cy="442906"/>
          </a:xfrm>
          <a:prstGeom prst="rect">
            <a:avLst/>
          </a:prstGeom>
          <a:solidFill>
            <a:srgbClr val="000000">
              <a:shade val="95000"/>
            </a:srgbClr>
          </a:solidFill>
          <a:ln w="5715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Логотип Россия - Страна возможностей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2031" y="178481"/>
            <a:ext cx="1644197" cy="61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одзаголовок 2"/>
          <p:cNvSpPr txBox="1">
            <a:spLocks/>
          </p:cNvSpPr>
          <p:nvPr/>
        </p:nvSpPr>
        <p:spPr>
          <a:xfrm>
            <a:off x="5236143" y="4886995"/>
            <a:ext cx="5969539" cy="6176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 smtClean="0">
                <a:solidFill>
                  <a:schemeClr val="accent5">
                    <a:lumMod val="75000"/>
                  </a:schemeClr>
                </a:solidFill>
              </a:rPr>
              <a:t>Участник: </a:t>
            </a:r>
            <a:r>
              <a:rPr lang="ru-RU" sz="2800" dirty="0" smtClean="0">
                <a:solidFill>
                  <a:schemeClr val="accent5">
                    <a:lumMod val="75000"/>
                  </a:schemeClr>
                </a:solidFill>
              </a:rPr>
              <a:t>Вячеслав Корнейчук</a:t>
            </a:r>
            <a:endParaRPr lang="ru-RU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68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Задача: </a:t>
            </a:r>
            <a:r>
              <a:rPr lang="ru-RU" sz="3600" dirty="0" smtClean="0"/>
              <a:t>предсказать </a:t>
            </a:r>
            <a:r>
              <a:rPr lang="ru-RU" sz="3600" dirty="0"/>
              <a:t>будущий потенциальный статус студента на основе данных о нескольких тысячах студентов.</a:t>
            </a:r>
            <a:br>
              <a:rPr lang="ru-RU" sz="3600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2822713"/>
            <a:ext cx="4020868" cy="3457825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numCol="2">
            <a:normAutofit fontScale="47500" lnSpcReduction="20000"/>
          </a:bodyPr>
          <a:lstStyle/>
          <a:p>
            <a:r>
              <a:rPr lang="ru-RU" sz="2500" dirty="0" smtClean="0"/>
              <a:t>ID</a:t>
            </a:r>
            <a:endParaRPr lang="ru-RU" sz="2500" dirty="0"/>
          </a:p>
          <a:p>
            <a:r>
              <a:rPr lang="ru-RU" sz="2500" dirty="0" err="1"/>
              <a:t>Код_группы</a:t>
            </a:r>
            <a:endParaRPr lang="ru-RU" sz="2500" dirty="0"/>
          </a:p>
          <a:p>
            <a:r>
              <a:rPr lang="ru-RU" sz="2500" dirty="0" err="1"/>
              <a:t>Год_Поступления</a:t>
            </a:r>
            <a:endParaRPr lang="ru-RU" sz="2500" dirty="0"/>
          </a:p>
          <a:p>
            <a:r>
              <a:rPr lang="ru-RU" sz="2500" dirty="0"/>
              <a:t>Пол</a:t>
            </a:r>
          </a:p>
          <a:p>
            <a:r>
              <a:rPr lang="ru-RU" sz="2500" dirty="0"/>
              <a:t>Основания</a:t>
            </a:r>
          </a:p>
          <a:p>
            <a:r>
              <a:rPr lang="ru-RU" sz="2500" dirty="0" err="1"/>
              <a:t>Изучаемый_Язык</a:t>
            </a:r>
            <a:endParaRPr lang="ru-RU" sz="2500" dirty="0"/>
          </a:p>
          <a:p>
            <a:r>
              <a:rPr lang="ru-RU" sz="2500" dirty="0" err="1"/>
              <a:t>Дата_Рождения</a:t>
            </a:r>
            <a:endParaRPr lang="ru-RU" sz="2500" dirty="0"/>
          </a:p>
          <a:p>
            <a:r>
              <a:rPr lang="ru-RU" sz="2500" dirty="0" err="1"/>
              <a:t>Уч_Заведение</a:t>
            </a:r>
            <a:endParaRPr lang="ru-RU" sz="2500" dirty="0"/>
          </a:p>
          <a:p>
            <a:r>
              <a:rPr lang="ru-RU" sz="2500" dirty="0" err="1"/>
              <a:t>Где_Находится_УЗ</a:t>
            </a:r>
            <a:endParaRPr lang="ru-RU" sz="2500" dirty="0"/>
          </a:p>
          <a:p>
            <a:r>
              <a:rPr lang="ru-RU" sz="2500" dirty="0" err="1"/>
              <a:t>Год_Окончания_УЗ</a:t>
            </a:r>
            <a:endParaRPr lang="ru-RU" sz="2500" dirty="0"/>
          </a:p>
          <a:p>
            <a:r>
              <a:rPr lang="ru-RU" sz="2500" dirty="0"/>
              <a:t>Пособие</a:t>
            </a:r>
          </a:p>
          <a:p>
            <a:r>
              <a:rPr lang="ru-RU" sz="2500" dirty="0" err="1" smtClean="0"/>
              <a:t>Страна_ПП</a:t>
            </a:r>
            <a:endParaRPr lang="ru-RU" sz="2500" dirty="0"/>
          </a:p>
          <a:p>
            <a:r>
              <a:rPr lang="ru-RU" sz="2500" dirty="0" err="1"/>
              <a:t>Регион_ПП</a:t>
            </a:r>
            <a:endParaRPr lang="ru-RU" sz="2500" dirty="0"/>
          </a:p>
          <a:p>
            <a:r>
              <a:rPr lang="ru-RU" sz="2500" dirty="0" err="1"/>
              <a:t>Город_ПП</a:t>
            </a:r>
            <a:endParaRPr lang="ru-RU" sz="2500" dirty="0"/>
          </a:p>
          <a:p>
            <a:r>
              <a:rPr lang="ru-RU" sz="2500" dirty="0"/>
              <a:t>Общежитие</a:t>
            </a:r>
          </a:p>
          <a:p>
            <a:r>
              <a:rPr lang="ru-RU" sz="2500" dirty="0" err="1"/>
              <a:t>Наличие_Матери</a:t>
            </a:r>
            <a:endParaRPr lang="ru-RU" sz="2500" dirty="0"/>
          </a:p>
          <a:p>
            <a:r>
              <a:rPr lang="ru-RU" sz="2500" dirty="0" err="1"/>
              <a:t>Наличие_Отца</a:t>
            </a:r>
            <a:endParaRPr lang="ru-RU" sz="2500" dirty="0"/>
          </a:p>
          <a:p>
            <a:r>
              <a:rPr lang="ru-RU" sz="2500" dirty="0" err="1"/>
              <a:t>Страна_Родители</a:t>
            </a:r>
            <a:endParaRPr lang="ru-RU" sz="2500" dirty="0"/>
          </a:p>
          <a:p>
            <a:r>
              <a:rPr lang="ru-RU" sz="2500" dirty="0"/>
              <a:t>Опекунство</a:t>
            </a:r>
          </a:p>
          <a:p>
            <a:r>
              <a:rPr lang="ru-RU" sz="2500" dirty="0"/>
              <a:t>Село</a:t>
            </a:r>
          </a:p>
          <a:p>
            <a:r>
              <a:rPr lang="ru-RU" sz="2500" dirty="0"/>
              <a:t>Иностранец</a:t>
            </a:r>
          </a:p>
          <a:p>
            <a:r>
              <a:rPr lang="ru-RU" sz="2500" dirty="0" err="1"/>
              <a:t>КодФакультета</a:t>
            </a:r>
            <a:endParaRPr lang="ru-RU" sz="2500" dirty="0"/>
          </a:p>
          <a:p>
            <a:r>
              <a:rPr lang="ru-RU" sz="2500" dirty="0" err="1"/>
              <a:t>СрБаллАттестата</a:t>
            </a:r>
            <a:endParaRPr lang="ru-RU" sz="2500" dirty="0"/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371599" y="2250219"/>
            <a:ext cx="402086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/>
              <a:t>ПРИЗНАКИ</a:t>
            </a:r>
            <a:r>
              <a:rPr lang="ru-RU" b="1" dirty="0" smtClean="0"/>
              <a:t>:</a:t>
            </a:r>
            <a:endParaRPr lang="ru-RU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357066" y="2252266"/>
            <a:ext cx="3979627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 smtClean="0"/>
              <a:t>ЦЕЛЕВОЙ ПРИЗНАК:</a:t>
            </a:r>
            <a:endParaRPr lang="ru-RU" b="1" dirty="0"/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6357066" y="2822712"/>
            <a:ext cx="3979628" cy="226612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numCol="1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mtClean="0"/>
              <a:t>Статус:</a:t>
            </a:r>
            <a:endParaRPr lang="en-US" dirty="0" smtClean="0"/>
          </a:p>
          <a:p>
            <a:pPr lvl="1"/>
            <a:r>
              <a:rPr lang="ru-RU" dirty="0" smtClean="0"/>
              <a:t>1 </a:t>
            </a:r>
            <a:r>
              <a:rPr lang="ru-RU" dirty="0"/>
              <a:t>– ушел в академический </a:t>
            </a:r>
            <a:r>
              <a:rPr lang="ru-RU" dirty="0" smtClean="0"/>
              <a:t>отпуск</a:t>
            </a:r>
            <a:endParaRPr lang="en-US" dirty="0" smtClean="0"/>
          </a:p>
          <a:p>
            <a:pPr lvl="1"/>
            <a:r>
              <a:rPr lang="ru-RU" dirty="0" smtClean="0"/>
              <a:t>4 </a:t>
            </a:r>
            <a:r>
              <a:rPr lang="ru-RU" dirty="0"/>
              <a:t>– закончил обучение </a:t>
            </a:r>
            <a:endParaRPr lang="en-US" dirty="0" smtClean="0"/>
          </a:p>
          <a:p>
            <a:pPr lvl="1"/>
            <a:r>
              <a:rPr lang="ru-RU" dirty="0" smtClean="0"/>
              <a:t>3 </a:t>
            </a:r>
            <a:r>
              <a:rPr lang="ru-RU" dirty="0"/>
              <a:t>– отчислен </a:t>
            </a:r>
            <a:endParaRPr lang="en-US" dirty="0" smtClean="0"/>
          </a:p>
          <a:p>
            <a:pPr lvl="1"/>
            <a:r>
              <a:rPr lang="ru-RU" dirty="0" smtClean="0"/>
              <a:t>5 </a:t>
            </a:r>
            <a:r>
              <a:rPr lang="ru-RU" dirty="0"/>
              <a:t>– призван в </a:t>
            </a:r>
            <a:r>
              <a:rPr lang="ru-RU" dirty="0" smtClean="0"/>
              <a:t>армию</a:t>
            </a:r>
          </a:p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6357066" y="5281019"/>
            <a:ext cx="397962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 smtClean="0"/>
              <a:t>МЕТРИКА КАЧЕСТВА:</a:t>
            </a:r>
            <a:endParaRPr lang="ru-RU" b="1" dirty="0"/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6357066" y="5842535"/>
            <a:ext cx="3979628" cy="4380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numCol="1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F1</a:t>
            </a:r>
            <a:r>
              <a:rPr lang="ru-RU" dirty="0" smtClean="0"/>
              <a:t>-мера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2388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34786"/>
          </a:xfrm>
        </p:spPr>
        <p:txBody>
          <a:bodyPr/>
          <a:lstStyle/>
          <a:p>
            <a:r>
              <a:rPr lang="ru-RU" dirty="0" smtClean="0"/>
              <a:t>Использованные данные</a:t>
            </a:r>
            <a:endParaRPr lang="ru-RU" dirty="0"/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1371600" y="2285999"/>
            <a:ext cx="2784021" cy="4106637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tIns="180000" numCol="1">
            <a:normAutofit fontScale="40000" lnSpcReduction="20000"/>
          </a:bodyPr>
          <a:lstStyle/>
          <a:p>
            <a:r>
              <a:rPr lang="ru-RU" sz="2500" b="1" dirty="0">
                <a:solidFill>
                  <a:schemeClr val="accent5">
                    <a:lumMod val="75000"/>
                  </a:schemeClr>
                </a:solidFill>
              </a:rPr>
              <a:t>ID</a:t>
            </a:r>
            <a:endParaRPr lang="ru-RU" sz="25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ru-RU" sz="2500" b="1" dirty="0" err="1">
                <a:solidFill>
                  <a:schemeClr val="accent5">
                    <a:lumMod val="75000"/>
                  </a:schemeClr>
                </a:solidFill>
              </a:rPr>
              <a:t>Код_группы</a:t>
            </a:r>
            <a:endParaRPr lang="ru-RU" sz="25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ru-RU" sz="2500" b="1" dirty="0" err="1">
                <a:solidFill>
                  <a:schemeClr val="accent5">
                    <a:lumMod val="75000"/>
                  </a:schemeClr>
                </a:solidFill>
              </a:rPr>
              <a:t>Год_Поступления</a:t>
            </a:r>
            <a:endParaRPr lang="ru-RU" sz="25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ru-RU" sz="2500" b="1" dirty="0" err="1">
                <a:solidFill>
                  <a:schemeClr val="accent5">
                    <a:lumMod val="75000"/>
                  </a:schemeClr>
                </a:solidFill>
              </a:rPr>
              <a:t>Дата_Рождения</a:t>
            </a:r>
            <a:r>
              <a:rPr lang="ru-RU" sz="25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ru-RU" sz="2500" dirty="0" smtClean="0"/>
              <a:t>– исп. год рождения</a:t>
            </a:r>
            <a:endParaRPr lang="ru-RU" sz="2500" dirty="0"/>
          </a:p>
          <a:p>
            <a:r>
              <a:rPr lang="ru-RU" sz="2500" b="1" dirty="0" err="1">
                <a:solidFill>
                  <a:schemeClr val="accent5">
                    <a:lumMod val="75000"/>
                  </a:schemeClr>
                </a:solidFill>
              </a:rPr>
              <a:t>Год_Окончания_УЗ</a:t>
            </a:r>
            <a:r>
              <a:rPr lang="ru-RU" sz="25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  <a:p>
            <a:r>
              <a:rPr lang="ru-RU" sz="2500" b="1" dirty="0">
                <a:solidFill>
                  <a:schemeClr val="accent6">
                    <a:lumMod val="75000"/>
                  </a:schemeClr>
                </a:solidFill>
              </a:rPr>
              <a:t>Пособие</a:t>
            </a:r>
            <a:r>
              <a:rPr lang="ru-RU" sz="2500" dirty="0" smtClean="0"/>
              <a:t> – константный признак</a:t>
            </a:r>
            <a:endParaRPr lang="ru-RU" sz="2500" dirty="0"/>
          </a:p>
          <a:p>
            <a:r>
              <a:rPr lang="ru-RU" sz="2500" b="1" dirty="0">
                <a:solidFill>
                  <a:schemeClr val="accent5">
                    <a:lumMod val="75000"/>
                  </a:schemeClr>
                </a:solidFill>
              </a:rPr>
              <a:t>Общежитие</a:t>
            </a:r>
          </a:p>
          <a:p>
            <a:r>
              <a:rPr lang="ru-RU" sz="2500" b="1" dirty="0" err="1">
                <a:solidFill>
                  <a:schemeClr val="accent6">
                    <a:lumMod val="75000"/>
                  </a:schemeClr>
                </a:solidFill>
              </a:rPr>
              <a:t>Наличие_Матери</a:t>
            </a:r>
            <a:r>
              <a:rPr lang="ru-RU" sz="2500" dirty="0" smtClean="0"/>
              <a:t> – не использовался</a:t>
            </a:r>
            <a:endParaRPr lang="ru-RU" sz="2500" dirty="0"/>
          </a:p>
          <a:p>
            <a:r>
              <a:rPr lang="ru-RU" sz="2500" b="1" dirty="0" err="1">
                <a:solidFill>
                  <a:schemeClr val="accent6">
                    <a:lumMod val="75000"/>
                  </a:schemeClr>
                </a:solidFill>
              </a:rPr>
              <a:t>Наличие_Отца</a:t>
            </a:r>
            <a:r>
              <a:rPr lang="ru-RU" sz="25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ru-RU" sz="2500" dirty="0"/>
              <a:t>– не использовался</a:t>
            </a:r>
          </a:p>
          <a:p>
            <a:r>
              <a:rPr lang="ru-RU" sz="2500" b="1" dirty="0">
                <a:solidFill>
                  <a:schemeClr val="accent6">
                    <a:lumMod val="75000"/>
                  </a:schemeClr>
                </a:solidFill>
              </a:rPr>
              <a:t>Опекунство</a:t>
            </a:r>
            <a:r>
              <a:rPr lang="ru-RU" sz="2500" dirty="0"/>
              <a:t> – не использовался</a:t>
            </a:r>
          </a:p>
          <a:p>
            <a:r>
              <a:rPr lang="ru-RU" sz="2500" b="1" dirty="0">
                <a:solidFill>
                  <a:schemeClr val="accent5">
                    <a:lumMod val="75000"/>
                  </a:schemeClr>
                </a:solidFill>
              </a:rPr>
              <a:t>Село</a:t>
            </a:r>
          </a:p>
          <a:p>
            <a:r>
              <a:rPr lang="ru-RU" sz="2500" b="1" dirty="0">
                <a:solidFill>
                  <a:schemeClr val="accent5">
                    <a:lumMod val="75000"/>
                  </a:schemeClr>
                </a:solidFill>
              </a:rPr>
              <a:t>Иностранец</a:t>
            </a:r>
          </a:p>
          <a:p>
            <a:r>
              <a:rPr lang="ru-RU" sz="2500" b="1" dirty="0" err="1">
                <a:solidFill>
                  <a:schemeClr val="accent5">
                    <a:lumMod val="75000"/>
                  </a:schemeClr>
                </a:solidFill>
              </a:rPr>
              <a:t>КодФакультета</a:t>
            </a:r>
            <a:endParaRPr lang="ru-RU" sz="25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ru-RU" sz="2500" b="1" dirty="0" err="1">
                <a:solidFill>
                  <a:schemeClr val="accent5">
                    <a:lumMod val="75000"/>
                  </a:schemeClr>
                </a:solidFill>
              </a:rPr>
              <a:t>СрБаллАттестата</a:t>
            </a:r>
            <a:r>
              <a:rPr lang="ru-RU" sz="25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ru-RU" sz="2500" dirty="0" smtClean="0"/>
              <a:t>– приведён к </a:t>
            </a:r>
            <a:r>
              <a:rPr lang="ru-RU" sz="2500" dirty="0" err="1" smtClean="0"/>
              <a:t>пятибальной</a:t>
            </a:r>
            <a:r>
              <a:rPr lang="ru-RU" sz="2500" dirty="0" smtClean="0"/>
              <a:t> оценке</a:t>
            </a:r>
            <a:endParaRPr lang="ru-RU" sz="2500" dirty="0"/>
          </a:p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1684954"/>
            <a:ext cx="2784022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ЧИСЛОВЫЕ ПРИЗНАКИ</a:t>
            </a:r>
            <a:endParaRPr lang="ru-RU" b="1" dirty="0"/>
          </a:p>
        </p:txBody>
      </p:sp>
      <p:sp>
        <p:nvSpPr>
          <p:cNvPr id="7" name="Объект 2"/>
          <p:cNvSpPr>
            <a:spLocks noGrp="1"/>
          </p:cNvSpPr>
          <p:nvPr>
            <p:ph idx="1"/>
          </p:nvPr>
        </p:nvSpPr>
        <p:spPr>
          <a:xfrm>
            <a:off x="4610099" y="2285999"/>
            <a:ext cx="2705101" cy="4106637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180000" numCol="1">
            <a:normAutofit/>
          </a:bodyPr>
          <a:lstStyle/>
          <a:p>
            <a:r>
              <a:rPr lang="ru-RU" sz="1100" b="1" dirty="0">
                <a:solidFill>
                  <a:schemeClr val="accent5">
                    <a:lumMod val="75000"/>
                  </a:schemeClr>
                </a:solidFill>
              </a:rPr>
              <a:t>Пол</a:t>
            </a:r>
            <a:endParaRPr lang="ru-RU" sz="1100" b="1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04000"/>
              </a:lnSpc>
            </a:pPr>
            <a:r>
              <a:rPr lang="ru-RU" sz="1100" b="1" dirty="0">
                <a:solidFill>
                  <a:schemeClr val="accent5">
                    <a:lumMod val="75000"/>
                  </a:schemeClr>
                </a:solidFill>
              </a:rPr>
              <a:t>Основания</a:t>
            </a:r>
          </a:p>
          <a:p>
            <a:pPr>
              <a:lnSpc>
                <a:spcPct val="104000"/>
              </a:lnSpc>
            </a:pPr>
            <a:r>
              <a:rPr lang="ru-RU" sz="1100" b="1" dirty="0" err="1">
                <a:solidFill>
                  <a:schemeClr val="accent5">
                    <a:lumMod val="75000"/>
                  </a:schemeClr>
                </a:solidFill>
              </a:rPr>
              <a:t>Изучаемый_Язык</a:t>
            </a:r>
            <a:endParaRPr lang="ru-RU" sz="1100" b="1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04000"/>
              </a:lnSpc>
            </a:pPr>
            <a:r>
              <a:rPr lang="ru-RU" sz="1100" b="1" dirty="0" err="1" smtClean="0">
                <a:solidFill>
                  <a:schemeClr val="accent5">
                    <a:lumMod val="75000"/>
                  </a:schemeClr>
                </a:solidFill>
              </a:rPr>
              <a:t>Уч_Заведение</a:t>
            </a:r>
            <a:r>
              <a:rPr lang="ru-RU" sz="1100" b="1" dirty="0" smtClean="0">
                <a:solidFill>
                  <a:schemeClr val="accent5">
                    <a:lumMod val="75000"/>
                  </a:schemeClr>
                </a:solidFill>
              </a:rPr>
              <a:t> – </a:t>
            </a:r>
            <a:r>
              <a:rPr lang="ru-RU" sz="1100" dirty="0" smtClean="0"/>
              <a:t>университет/ СОШ/ПТУ/ </a:t>
            </a:r>
            <a:r>
              <a:rPr lang="ru-RU" sz="1100" dirty="0"/>
              <a:t>другие</a:t>
            </a:r>
          </a:p>
          <a:p>
            <a:pPr>
              <a:lnSpc>
                <a:spcPct val="104000"/>
              </a:lnSpc>
            </a:pPr>
            <a:r>
              <a:rPr lang="ru-RU" sz="1100" b="1" dirty="0" err="1" smtClean="0">
                <a:solidFill>
                  <a:schemeClr val="accent5">
                    <a:lumMod val="75000"/>
                  </a:schemeClr>
                </a:solidFill>
              </a:rPr>
              <a:t>Где_Находится_УЗ</a:t>
            </a:r>
            <a:r>
              <a:rPr lang="ru-RU" sz="1100" b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ru-RU" sz="1100" dirty="0"/>
              <a:t>– </a:t>
            </a:r>
            <a:r>
              <a:rPr lang="ru-RU" sz="1100" dirty="0" err="1" smtClean="0"/>
              <a:t>алтай</a:t>
            </a:r>
            <a:r>
              <a:rPr lang="ru-RU" sz="1100" dirty="0" smtClean="0"/>
              <a:t>/другой</a:t>
            </a:r>
          </a:p>
          <a:p>
            <a:pPr>
              <a:lnSpc>
                <a:spcPct val="104000"/>
              </a:lnSpc>
            </a:pPr>
            <a:r>
              <a:rPr lang="ru-RU" sz="1100" b="1" dirty="0" err="1" smtClean="0">
                <a:solidFill>
                  <a:schemeClr val="accent5">
                    <a:lumMod val="75000"/>
                  </a:schemeClr>
                </a:solidFill>
              </a:rPr>
              <a:t>Страна_ПП</a:t>
            </a:r>
            <a:endParaRPr lang="ru-RU" sz="1100" b="1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04000"/>
              </a:lnSpc>
            </a:pPr>
            <a:r>
              <a:rPr lang="ru-RU" sz="1100" b="1" dirty="0" err="1" smtClean="0">
                <a:solidFill>
                  <a:schemeClr val="accent6">
                    <a:lumMod val="75000"/>
                  </a:schemeClr>
                </a:solidFill>
              </a:rPr>
              <a:t>Регион_ПП</a:t>
            </a:r>
            <a:r>
              <a:rPr lang="ru-RU" sz="1100" dirty="0"/>
              <a:t>– не </a:t>
            </a:r>
            <a:r>
              <a:rPr lang="ru-RU" sz="1100" dirty="0" smtClean="0"/>
              <a:t>использовался</a:t>
            </a:r>
            <a:endParaRPr lang="ru-RU" sz="11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4000"/>
              </a:lnSpc>
            </a:pPr>
            <a:r>
              <a:rPr lang="ru-RU" sz="1100" b="1" dirty="0" err="1" smtClean="0">
                <a:solidFill>
                  <a:schemeClr val="accent6">
                    <a:lumMod val="75000"/>
                  </a:schemeClr>
                </a:solidFill>
              </a:rPr>
              <a:t>Город_ПП</a:t>
            </a:r>
            <a:r>
              <a:rPr lang="ru-RU" sz="1100" dirty="0"/>
              <a:t>– не </a:t>
            </a:r>
            <a:r>
              <a:rPr lang="ru-RU" sz="1100" dirty="0" smtClean="0"/>
              <a:t>использовался</a:t>
            </a:r>
            <a:endParaRPr lang="ru-RU" sz="11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4000"/>
              </a:lnSpc>
            </a:pPr>
            <a:r>
              <a:rPr lang="ru-RU" sz="1100" b="1" dirty="0" err="1">
                <a:solidFill>
                  <a:schemeClr val="accent5">
                    <a:lumMod val="75000"/>
                  </a:schemeClr>
                </a:solidFill>
              </a:rPr>
              <a:t>Страна_Родители</a:t>
            </a:r>
            <a:endParaRPr lang="ru-RU" sz="11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10099" y="1684954"/>
            <a:ext cx="2705102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КАТЕГОРИАЛЬНЫЕ ПРИЗНАКИ</a:t>
            </a:r>
            <a:endParaRPr lang="ru-RU" b="1" dirty="0"/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7769677" y="2285999"/>
            <a:ext cx="2958194" cy="410663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180000" numCol="1">
            <a:normAutofit/>
          </a:bodyPr>
          <a:lstStyle/>
          <a:p>
            <a:r>
              <a:rPr lang="ru-RU" sz="1100" b="1" dirty="0" smtClean="0">
                <a:solidFill>
                  <a:schemeClr val="accent5">
                    <a:lumMod val="75000"/>
                  </a:schemeClr>
                </a:solidFill>
              </a:rPr>
              <a:t>Количество студентов в группе</a:t>
            </a:r>
          </a:p>
          <a:p>
            <a:r>
              <a:rPr lang="ru-RU" sz="1100" b="1" dirty="0" smtClean="0">
                <a:solidFill>
                  <a:schemeClr val="accent6">
                    <a:lumMod val="75000"/>
                  </a:schemeClr>
                </a:solidFill>
              </a:rPr>
              <a:t>Количество студентов на факультете </a:t>
            </a:r>
            <a:endParaRPr lang="ru-RU" sz="11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4000"/>
              </a:lnSpc>
            </a:pPr>
            <a:r>
              <a:rPr lang="ru-RU" sz="1100" b="1" dirty="0" smtClean="0">
                <a:solidFill>
                  <a:schemeClr val="accent6">
                    <a:lumMod val="75000"/>
                  </a:schemeClr>
                </a:solidFill>
              </a:rPr>
              <a:t>1-я часть кода группы</a:t>
            </a:r>
          </a:p>
          <a:p>
            <a:pPr>
              <a:lnSpc>
                <a:spcPct val="104000"/>
              </a:lnSpc>
            </a:pPr>
            <a:r>
              <a:rPr lang="ru-RU" sz="1100" b="1" dirty="0">
                <a:solidFill>
                  <a:schemeClr val="accent5">
                    <a:lumMod val="75000"/>
                  </a:schemeClr>
                </a:solidFill>
              </a:rPr>
              <a:t>2-я часть кода группы</a:t>
            </a:r>
          </a:p>
          <a:p>
            <a:pPr>
              <a:lnSpc>
                <a:spcPct val="104000"/>
              </a:lnSpc>
            </a:pPr>
            <a:r>
              <a:rPr lang="ru-RU" sz="1100" b="1" dirty="0" smtClean="0">
                <a:solidFill>
                  <a:schemeClr val="accent6">
                    <a:lumMod val="75000"/>
                  </a:schemeClr>
                </a:solidFill>
              </a:rPr>
              <a:t>Лет между окончанием УЗ и поступлением</a:t>
            </a:r>
            <a:endParaRPr lang="ru-RU" sz="11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4000"/>
              </a:lnSpc>
            </a:pPr>
            <a:r>
              <a:rPr lang="ru-RU" sz="1100" b="1" dirty="0" smtClean="0">
                <a:solidFill>
                  <a:schemeClr val="accent6">
                    <a:lumMod val="75000"/>
                  </a:schemeClr>
                </a:solidFill>
              </a:rPr>
              <a:t>Возраст поступления</a:t>
            </a:r>
            <a:endParaRPr lang="ru-RU" sz="11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4000"/>
              </a:lnSpc>
            </a:pPr>
            <a:r>
              <a:rPr lang="ru-RU" sz="1100" b="1" dirty="0" smtClean="0">
                <a:solidFill>
                  <a:schemeClr val="accent6">
                    <a:lumMod val="75000"/>
                  </a:schemeClr>
                </a:solidFill>
              </a:rPr>
              <a:t>Родители иностранцы</a:t>
            </a:r>
            <a:endParaRPr lang="ru-RU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69676" y="1684954"/>
            <a:ext cx="2958195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СГЕНЕРИРОВАНННЫЕ  ПРИЗНАКИ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83599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1936"/>
          </a:xfrm>
        </p:spPr>
        <p:txBody>
          <a:bodyPr/>
          <a:lstStyle/>
          <a:p>
            <a:r>
              <a:rPr lang="ru-RU" dirty="0" smtClean="0"/>
              <a:t>ПОСТРОЕНИЕ МОДЕЛИ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CatBoost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 err="1" smtClean="0"/>
              <a:t>LightGBM</a:t>
            </a:r>
            <a:endParaRPr lang="en-US" dirty="0" smtClean="0"/>
          </a:p>
          <a:p>
            <a:r>
              <a:rPr lang="en-US" dirty="0" err="1" smtClean="0"/>
              <a:t>XGBoost</a:t>
            </a:r>
            <a:endParaRPr lang="en-US" dirty="0" smtClean="0"/>
          </a:p>
          <a:p>
            <a:r>
              <a:rPr lang="en-US" dirty="0" err="1" smtClean="0"/>
              <a:t>RandomForest</a:t>
            </a:r>
            <a:endParaRPr lang="en-US" dirty="0" smtClean="0"/>
          </a:p>
          <a:p>
            <a:r>
              <a:rPr lang="en-US" dirty="0" smtClean="0"/>
              <a:t>Stacking(</a:t>
            </a:r>
            <a:r>
              <a:rPr lang="en-US" dirty="0" err="1" smtClean="0"/>
              <a:t>CatBoost</a:t>
            </a:r>
            <a:r>
              <a:rPr lang="en-US" dirty="0" smtClean="0"/>
              <a:t>, </a:t>
            </a:r>
            <a:r>
              <a:rPr lang="en-US" dirty="0" err="1" smtClean="0"/>
              <a:t>RandomForest</a:t>
            </a:r>
            <a:r>
              <a:rPr lang="en-US" dirty="0" smtClean="0"/>
              <a:t>, </a:t>
            </a:r>
            <a:r>
              <a:rPr lang="en-US" dirty="0" err="1" smtClean="0"/>
              <a:t>LogisticRegression</a:t>
            </a:r>
            <a:r>
              <a:rPr lang="en-US" dirty="0" smtClean="0"/>
              <a:t>)</a:t>
            </a:r>
          </a:p>
          <a:p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Baging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CatBoost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LightGBM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XGBoost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525403" y="2286000"/>
            <a:ext cx="4578026" cy="270238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 smtClean="0"/>
              <a:t>CatBoostClassifier</a:t>
            </a:r>
            <a:endParaRPr lang="en-US" b="1" dirty="0" smtClean="0"/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dirty="0" err="1" smtClean="0"/>
              <a:t>learning_rate</a:t>
            </a:r>
            <a:r>
              <a:rPr lang="en-US" dirty="0" smtClean="0"/>
              <a:t>=0.28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dirty="0" err="1" smtClean="0"/>
              <a:t>leaf_reg</a:t>
            </a:r>
            <a:r>
              <a:rPr lang="en-US" dirty="0" smtClean="0"/>
              <a:t>=18</a:t>
            </a:r>
            <a:endParaRPr lang="en-US" dirty="0"/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dirty="0" smtClean="0"/>
              <a:t>depth=7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dirty="0" smtClean="0"/>
              <a:t>iterations=500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dirty="0" err="1" smtClean="0"/>
              <a:t>auto_class_weights</a:t>
            </a:r>
            <a:r>
              <a:rPr lang="en-US" dirty="0"/>
              <a:t>='</a:t>
            </a:r>
            <a:r>
              <a:rPr lang="en-US" dirty="0" err="1"/>
              <a:t>SqrtBalanced</a:t>
            </a:r>
            <a:r>
              <a:rPr lang="en-US" dirty="0" smtClean="0"/>
              <a:t>'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371600" y="1697201"/>
            <a:ext cx="444778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 smtClean="0"/>
              <a:t>Модели:</a:t>
            </a:r>
            <a:endParaRPr lang="ru-RU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525403" y="1697201"/>
            <a:ext cx="4447786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 smtClean="0"/>
              <a:t>Лучшая модель:</a:t>
            </a:r>
            <a:endParaRPr lang="ru-R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525403" y="5167993"/>
            <a:ext cx="4578026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F1=0.799</a:t>
            </a:r>
            <a:r>
              <a:rPr lang="en-US" dirty="0" smtClean="0"/>
              <a:t> </a:t>
            </a:r>
            <a:r>
              <a:rPr lang="ru-RU" dirty="0" smtClean="0"/>
              <a:t>на открытой части тестового </a:t>
            </a:r>
            <a:r>
              <a:rPr lang="ru-RU" dirty="0" err="1" smtClean="0"/>
              <a:t>датасета</a:t>
            </a:r>
            <a:r>
              <a:rPr lang="en-US" dirty="0" smtClean="0"/>
              <a:t>(</a:t>
            </a:r>
            <a:r>
              <a:rPr lang="ru-RU" dirty="0" err="1" smtClean="0"/>
              <a:t>Бэгинг</a:t>
            </a:r>
            <a:r>
              <a:rPr lang="ru-RU" dirty="0" smtClean="0"/>
              <a:t> дал прибавку </a:t>
            </a:r>
            <a:r>
              <a:rPr lang="en-US" dirty="0" smtClean="0"/>
              <a:t>0.0002)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0366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599" y="685800"/>
            <a:ext cx="10034337" cy="825366"/>
          </a:xfrm>
        </p:spPr>
        <p:txBody>
          <a:bodyPr/>
          <a:lstStyle/>
          <a:p>
            <a:r>
              <a:rPr lang="ru-RU" dirty="0" smtClean="0"/>
              <a:t>Анализ результата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81036" y="1910615"/>
            <a:ext cx="5524901" cy="45720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ru-RU" dirty="0" smtClean="0"/>
              <a:t>Признаками, внёсшими наибольший вклад в качество модели являются: </a:t>
            </a:r>
            <a:r>
              <a:rPr lang="en-US" dirty="0"/>
              <a:t>`</a:t>
            </a:r>
            <a:r>
              <a:rPr lang="ru-RU" dirty="0" smtClean="0"/>
              <a:t>Код группы</a:t>
            </a:r>
            <a:r>
              <a:rPr lang="en-US" dirty="0" smtClean="0"/>
              <a:t>`</a:t>
            </a:r>
            <a:r>
              <a:rPr lang="ru-RU" dirty="0" smtClean="0"/>
              <a:t>, </a:t>
            </a:r>
            <a:r>
              <a:rPr lang="en-US" dirty="0" smtClean="0"/>
              <a:t>`</a:t>
            </a:r>
            <a:r>
              <a:rPr lang="ru-RU" dirty="0" smtClean="0"/>
              <a:t>Количество студентов в группе</a:t>
            </a:r>
            <a:r>
              <a:rPr lang="en-US" dirty="0" smtClean="0"/>
              <a:t>`</a:t>
            </a:r>
            <a:r>
              <a:rPr lang="ru-RU" dirty="0" smtClean="0"/>
              <a:t> и </a:t>
            </a:r>
            <a:r>
              <a:rPr lang="en-US" dirty="0" smtClean="0"/>
              <a:t>`</a:t>
            </a:r>
            <a:r>
              <a:rPr lang="ru-RU" dirty="0" smtClean="0"/>
              <a:t>Основания поступления</a:t>
            </a:r>
            <a:r>
              <a:rPr lang="en-US" dirty="0" smtClean="0"/>
              <a:t>`</a:t>
            </a:r>
            <a:r>
              <a:rPr lang="ru-RU" dirty="0" smtClean="0"/>
              <a:t>.</a:t>
            </a:r>
          </a:p>
          <a:p>
            <a:r>
              <a:rPr lang="en-US" dirty="0" smtClean="0"/>
              <a:t>`</a:t>
            </a:r>
            <a:r>
              <a:rPr lang="ru-RU" dirty="0" smtClean="0"/>
              <a:t>Средний балл аттестата</a:t>
            </a:r>
            <a:r>
              <a:rPr lang="en-US" dirty="0" smtClean="0"/>
              <a:t>`</a:t>
            </a:r>
            <a:r>
              <a:rPr lang="ru-RU" dirty="0" smtClean="0"/>
              <a:t>, оказался, не так важен.</a:t>
            </a:r>
          </a:p>
          <a:p>
            <a:r>
              <a:rPr lang="ru-RU" dirty="0" smtClean="0"/>
              <a:t>Существенную прибавку качества модели удалось получить за счёт добавления сгенерированных признаков </a:t>
            </a:r>
            <a:r>
              <a:rPr lang="en-US" dirty="0" smtClean="0"/>
              <a:t>`</a:t>
            </a:r>
            <a:r>
              <a:rPr lang="ru-RU" dirty="0" smtClean="0"/>
              <a:t>Количество студентов в группе</a:t>
            </a:r>
            <a:r>
              <a:rPr lang="en-US" dirty="0" smtClean="0"/>
              <a:t>`</a:t>
            </a:r>
            <a:r>
              <a:rPr lang="ru-RU" dirty="0" smtClean="0"/>
              <a:t> и </a:t>
            </a:r>
            <a:r>
              <a:rPr lang="en-US" dirty="0" smtClean="0"/>
              <a:t>`</a:t>
            </a:r>
            <a:r>
              <a:rPr lang="ru-RU" dirty="0" smtClean="0"/>
              <a:t>Код_группы_2</a:t>
            </a:r>
            <a:r>
              <a:rPr lang="en-US" dirty="0" smtClean="0"/>
              <a:t>`</a:t>
            </a:r>
            <a:r>
              <a:rPr lang="ru-RU" dirty="0" smtClean="0"/>
              <a:t>. Судя по всему, количество студентов в группе действительно влияет на статус студента.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10614"/>
            <a:ext cx="4108451" cy="4572001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88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0476" y="2014086"/>
            <a:ext cx="9601200" cy="786865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</a:t>
            </a: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525604" y="5245768"/>
            <a:ext cx="9601200" cy="10684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/>
              <a:t>mail: </a:t>
            </a:r>
            <a:r>
              <a:rPr lang="en-US" sz="3200" dirty="0" smtClean="0">
                <a:hlinkClick r:id="rId2"/>
              </a:rPr>
              <a:t>Korneichuk-v-n@yandex.ru</a:t>
            </a:r>
            <a:endParaRPr lang="en-US" sz="3200" dirty="0" smtClean="0"/>
          </a:p>
          <a:p>
            <a:r>
              <a:rPr lang="en-US" sz="3200" dirty="0"/>
              <a:t>telegram: https://t.me/SlavianinKo</a:t>
            </a:r>
            <a:endParaRPr lang="ru-RU" sz="3200" dirty="0"/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3216306" y="3405676"/>
            <a:ext cx="5969539" cy="6176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 smtClean="0">
                <a:solidFill>
                  <a:schemeClr val="accent5">
                    <a:lumMod val="75000"/>
                  </a:schemeClr>
                </a:solidFill>
              </a:rPr>
              <a:t>Вячеслав Корнейчук</a:t>
            </a:r>
            <a:endParaRPr lang="ru-RU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836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2001</TotalTime>
  <Words>306</Words>
  <Application>Microsoft Office PowerPoint</Application>
  <PresentationFormat>Широкоэкранный</PresentationFormat>
  <Paragraphs>94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8" baseType="lpstr">
      <vt:lpstr>Franklin Gothic Book</vt:lpstr>
      <vt:lpstr>Crop</vt:lpstr>
      <vt:lpstr>Чемпионат по машинному обучению</vt:lpstr>
      <vt:lpstr>Задача: предсказать будущий потенциальный статус студента на основе данных о нескольких тысячах студентов. </vt:lpstr>
      <vt:lpstr>Использованные данные</vt:lpstr>
      <vt:lpstr>ПОСТРОЕНИЕ МОДЕЛИ</vt:lpstr>
      <vt:lpstr>Анализ результата</vt:lpstr>
      <vt:lpstr>Спасибо за внимание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Чемпионат по машинному обучению</dc:title>
  <dc:creator>Slavianin</dc:creator>
  <cp:lastModifiedBy>Slavianin</cp:lastModifiedBy>
  <cp:revision>19</cp:revision>
  <dcterms:created xsi:type="dcterms:W3CDTF">2022-09-16T11:21:20Z</dcterms:created>
  <dcterms:modified xsi:type="dcterms:W3CDTF">2022-09-17T20:43:08Z</dcterms:modified>
</cp:coreProperties>
</file>